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0A92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64008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Shell in Python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178308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F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Unix-style shell from scratch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2331720"/>
            <a:ext cx="1097280" cy="45720"/>
          </a:xfrm>
          <a:prstGeom prst="rect">
            <a:avLst/>
          </a:prstGeom>
          <a:solidFill>
            <a:srgbClr val="E0A92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6060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E0A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3291840" cy="1005840"/>
          </a:xfrm>
          <a:prstGeom prst="rect">
            <a:avLst/>
          </a:prstGeom>
          <a:solidFill>
            <a:srgbClr val="2B3A66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0" y="3017520"/>
            <a:ext cx="54864" cy="1005840"/>
          </a:xfrm>
          <a:prstGeom prst="rect">
            <a:avLst/>
          </a:prstGeom>
          <a:solidFill>
            <a:srgbClr val="E0A92B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154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 Almousa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352044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A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ID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14400" y="37124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201902641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51960" y="3017520"/>
            <a:ext cx="3291840" cy="1005840"/>
          </a:xfrm>
          <a:prstGeom prst="rect">
            <a:avLst/>
          </a:prstGeom>
          <a:solidFill>
            <a:srgbClr val="2B3A66"/>
          </a:solidFill>
          <a:ln/>
        </p:spPr>
      </p:sp>
      <p:sp>
        <p:nvSpPr>
          <p:cNvPr id="13" name="Shape 11"/>
          <p:cNvSpPr/>
          <p:nvPr/>
        </p:nvSpPr>
        <p:spPr>
          <a:xfrm>
            <a:off x="4251960" y="3017520"/>
            <a:ext cx="54864" cy="1005840"/>
          </a:xfrm>
          <a:prstGeom prst="rect">
            <a:avLst/>
          </a:prstGeom>
          <a:solidFill>
            <a:srgbClr val="E0A92B"/>
          </a:solidFill>
          <a:ln/>
        </p:spPr>
      </p:sp>
      <p:sp>
        <p:nvSpPr>
          <p:cNvPr id="14" name="Text 12"/>
          <p:cNvSpPr/>
          <p:nvPr/>
        </p:nvSpPr>
        <p:spPr>
          <a:xfrm>
            <a:off x="4434840" y="3154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Hassan Albrahim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34840" y="352044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A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ID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434840" y="37124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202001844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31520" y="4251960"/>
            <a:ext cx="3291840" cy="1005840"/>
          </a:xfrm>
          <a:prstGeom prst="rect">
            <a:avLst/>
          </a:prstGeom>
          <a:solidFill>
            <a:srgbClr val="2B3A66"/>
          </a:solidFill>
          <a:ln/>
        </p:spPr>
      </p:sp>
      <p:sp>
        <p:nvSpPr>
          <p:cNvPr id="18" name="Shape 16"/>
          <p:cNvSpPr/>
          <p:nvPr/>
        </p:nvSpPr>
        <p:spPr>
          <a:xfrm>
            <a:off x="731520" y="4251960"/>
            <a:ext cx="54864" cy="1005840"/>
          </a:xfrm>
          <a:prstGeom prst="rect">
            <a:avLst/>
          </a:prstGeom>
          <a:solidFill>
            <a:srgbClr val="E0A92B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4389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Ahmad J Alsahan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14400" y="475488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A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ID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14400" y="49469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202201041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251960" y="4251960"/>
            <a:ext cx="3291840" cy="1005840"/>
          </a:xfrm>
          <a:prstGeom prst="rect">
            <a:avLst/>
          </a:prstGeom>
          <a:solidFill>
            <a:srgbClr val="2B3A66"/>
          </a:solidFill>
          <a:ln/>
        </p:spPr>
      </p:sp>
      <p:sp>
        <p:nvSpPr>
          <p:cNvPr id="23" name="Shape 21"/>
          <p:cNvSpPr/>
          <p:nvPr/>
        </p:nvSpPr>
        <p:spPr>
          <a:xfrm>
            <a:off x="4251960" y="4251960"/>
            <a:ext cx="54864" cy="1005840"/>
          </a:xfrm>
          <a:prstGeom prst="rect">
            <a:avLst/>
          </a:prstGeom>
          <a:solidFill>
            <a:srgbClr val="E0A92B"/>
          </a:solidFill>
          <a:ln/>
        </p:spPr>
      </p:sp>
      <p:sp>
        <p:nvSpPr>
          <p:cNvPr id="24" name="Text 22"/>
          <p:cNvSpPr/>
          <p:nvPr/>
        </p:nvSpPr>
        <p:spPr>
          <a:xfrm>
            <a:off x="4434840" y="4389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Abdulaziz Almotairi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434840" y="475488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A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ID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434840" y="49469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202200065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863840" y="3017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0A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Programming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863840" y="34290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Project: Mini Shell in Python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863840" y="37947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F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May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64592" cy="457200"/>
          </a:xfrm>
          <a:prstGeom prst="rect">
            <a:avLst/>
          </a:prstGeom>
          <a:solidFill>
            <a:srgbClr val="E0A92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Shell?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9601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program between you and the operating system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shell reads commands from the user, decides what to do with them, runs the right program, and shows the result.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Familiar examples: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5486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Bash, Zsh (Linux, macOS)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Command Prompt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PowerShell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132320" y="1554480"/>
            <a:ext cx="4389120" cy="640080"/>
          </a:xfrm>
          <a:prstGeom prst="rect">
            <a:avLst/>
          </a:prstGeom>
          <a:solidFill>
            <a:srgbClr val="F4F6FB"/>
          </a:solidFill>
          <a:ln w="12700">
            <a:solidFill>
              <a:srgbClr val="D6DC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0" y="1554480"/>
            <a:ext cx="54864" cy="640080"/>
          </a:xfrm>
          <a:prstGeom prst="rect">
            <a:avLst/>
          </a:prstGeom>
          <a:solidFill>
            <a:srgbClr val="1F2A4D"/>
          </a:solidFill>
          <a:ln/>
        </p:spPr>
      </p:sp>
      <p:sp>
        <p:nvSpPr>
          <p:cNvPr id="10" name="Text 8"/>
          <p:cNvSpPr/>
          <p:nvPr/>
        </p:nvSpPr>
        <p:spPr>
          <a:xfrm>
            <a:off x="7360920" y="15544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types a command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0" y="2203704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A92B"/>
                </a:solidFill>
              </a:rPr>
              <a:t>▼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132320" y="2395728"/>
            <a:ext cx="4389120" cy="640080"/>
          </a:xfrm>
          <a:prstGeom prst="rect">
            <a:avLst/>
          </a:prstGeom>
          <a:solidFill>
            <a:srgbClr val="F4F6FB"/>
          </a:solidFill>
          <a:ln w="12700">
            <a:solidFill>
              <a:srgbClr val="D6DC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0" y="2395728"/>
            <a:ext cx="54864" cy="640080"/>
          </a:xfrm>
          <a:prstGeom prst="rect">
            <a:avLst/>
          </a:prstGeom>
          <a:solidFill>
            <a:srgbClr val="1F2A4D"/>
          </a:solidFill>
          <a:ln/>
        </p:spPr>
      </p:sp>
      <p:sp>
        <p:nvSpPr>
          <p:cNvPr id="14" name="Text 12"/>
          <p:cNvSpPr/>
          <p:nvPr/>
        </p:nvSpPr>
        <p:spPr>
          <a:xfrm>
            <a:off x="7360920" y="2395728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 parses &amp; dispatches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0" y="304495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A92B"/>
                </a:solidFill>
              </a:rPr>
              <a:t>▼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32320" y="3236976"/>
            <a:ext cx="4389120" cy="640080"/>
          </a:xfrm>
          <a:prstGeom prst="rect">
            <a:avLst/>
          </a:prstGeom>
          <a:solidFill>
            <a:srgbClr val="F4F6FB"/>
          </a:solidFill>
          <a:ln w="12700">
            <a:solidFill>
              <a:srgbClr val="D6DC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32320" y="3236976"/>
            <a:ext cx="54864" cy="640080"/>
          </a:xfrm>
          <a:prstGeom prst="rect">
            <a:avLst/>
          </a:prstGeom>
          <a:solidFill>
            <a:srgbClr val="1F2A4D"/>
          </a:solidFill>
          <a:ln/>
        </p:spPr>
      </p:sp>
      <p:sp>
        <p:nvSpPr>
          <p:cNvPr id="18" name="Text 16"/>
          <p:cNvSpPr/>
          <p:nvPr/>
        </p:nvSpPr>
        <p:spPr>
          <a:xfrm>
            <a:off x="7360920" y="3236976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performs fork / exec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44000" y="388620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A92B"/>
                </a:solidFill>
              </a:rPr>
              <a:t>▼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32320" y="4078224"/>
            <a:ext cx="4389120" cy="640080"/>
          </a:xfrm>
          <a:prstGeom prst="rect">
            <a:avLst/>
          </a:prstGeom>
          <a:solidFill>
            <a:srgbClr val="F4F6FB"/>
          </a:solidFill>
          <a:ln w="12700">
            <a:solidFill>
              <a:srgbClr val="D6DC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32320" y="4078224"/>
            <a:ext cx="54864" cy="640080"/>
          </a:xfrm>
          <a:prstGeom prst="rect">
            <a:avLst/>
          </a:prstGeom>
          <a:solidFill>
            <a:srgbClr val="1F2A4D"/>
          </a:solidFill>
          <a:ln/>
        </p:spPr>
      </p:sp>
      <p:sp>
        <p:nvSpPr>
          <p:cNvPr id="22" name="Text 20"/>
          <p:cNvSpPr/>
          <p:nvPr/>
        </p:nvSpPr>
        <p:spPr>
          <a:xfrm>
            <a:off x="7360920" y="4078224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program runs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6565392"/>
            <a:ext cx="320040" cy="36576"/>
          </a:xfrm>
          <a:prstGeom prst="rect">
            <a:avLst/>
          </a:prstGeom>
          <a:solidFill>
            <a:srgbClr val="E0A92B"/>
          </a:solidFill>
          <a:ln/>
        </p:spPr>
      </p:sp>
      <p:sp>
        <p:nvSpPr>
          <p:cNvPr id="24" name="Text 22"/>
          <p:cNvSpPr/>
          <p:nvPr/>
        </p:nvSpPr>
        <p:spPr>
          <a:xfrm>
            <a:off x="8686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Shell in Python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64592" cy="457200"/>
          </a:xfrm>
          <a:prstGeom prst="rect">
            <a:avLst/>
          </a:prstGeom>
          <a:solidFill>
            <a:srgbClr val="E0A92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Goal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9601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basic Python shell that executes everyday commands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10698480" cy="868680"/>
          </a:xfrm>
          <a:prstGeom prst="rect">
            <a:avLst/>
          </a:prstGeom>
          <a:solidFill>
            <a:srgbClr val="F4F6FB"/>
          </a:solidFill>
          <a:ln w="12700">
            <a:solidFill>
              <a:srgbClr val="D6DC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868680"/>
          </a:xfrm>
          <a:prstGeom prst="rect">
            <a:avLst/>
          </a:prstGeom>
          <a:solidFill>
            <a:srgbClr val="E0A92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60020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“Implement a simple shell in Python that executes basic commands (ls, pwd, echo, etc.).”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6974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turned that into three concrete goals: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200400"/>
            <a:ext cx="640080" cy="640080"/>
          </a:xfrm>
          <a:prstGeom prst="ellipse">
            <a:avLst/>
          </a:prstGeom>
          <a:solidFill>
            <a:srgbClr val="1F2A4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3200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0A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645920" y="318211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REPL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645920" y="35204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line, parse it, run it, repeat. Show a clean prompt every time.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4233672"/>
            <a:ext cx="640080" cy="640080"/>
          </a:xfrm>
          <a:prstGeom prst="ellipse">
            <a:avLst/>
          </a:prstGeom>
          <a:solidFill>
            <a:srgbClr val="1F2A4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42336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0A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645920" y="4215384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Built-ins inside the shell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645920" y="455371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cd, pwd, echo, exit, help, clear, env, export, unset, history.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5266944"/>
            <a:ext cx="640080" cy="640080"/>
          </a:xfrm>
          <a:prstGeom prst="ellipse">
            <a:avLst/>
          </a:prstGeom>
          <a:solidFill>
            <a:srgbClr val="1F2A4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526694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0A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645920" y="524865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commands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645920" y="5586984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runs via subprocess — ls, cat, grep, python3, anything on PATH.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6565392"/>
            <a:ext cx="320040" cy="36576"/>
          </a:xfrm>
          <a:prstGeom prst="rect">
            <a:avLst/>
          </a:prstGeom>
          <a:solidFill>
            <a:srgbClr val="E0A92B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Shell in Python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64592" cy="457200"/>
          </a:xfrm>
          <a:prstGeom prst="rect">
            <a:avLst/>
          </a:prstGeom>
          <a:solidFill>
            <a:srgbClr val="E0A92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9601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command flows through the shell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2057400" cy="1280160"/>
          </a:xfrm>
          <a:prstGeom prst="rect">
            <a:avLst/>
          </a:prstGeom>
          <a:solidFill>
            <a:srgbClr val="F4F6FB"/>
          </a:solidFill>
          <a:ln w="12700">
            <a:solidFill>
              <a:srgbClr val="D6DC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828800"/>
            <a:ext cx="2057400" cy="73152"/>
          </a:xfrm>
          <a:prstGeom prst="rect">
            <a:avLst/>
          </a:prstGeom>
          <a:solidFill>
            <a:srgbClr val="1F2A4D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1168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5146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input()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97480" y="1828800"/>
            <a:ext cx="228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A92B"/>
                </a:solidFill>
              </a:rPr>
              <a:t>➜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926080" y="1828800"/>
            <a:ext cx="2057400" cy="1280160"/>
          </a:xfrm>
          <a:prstGeom prst="rect">
            <a:avLst/>
          </a:prstGeom>
          <a:solidFill>
            <a:srgbClr val="F4F6FB"/>
          </a:solidFill>
          <a:ln w="12700">
            <a:solidFill>
              <a:srgbClr val="D6DC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26080" y="1828800"/>
            <a:ext cx="2057400" cy="73152"/>
          </a:xfrm>
          <a:prstGeom prst="rect">
            <a:avLst/>
          </a:prstGeom>
          <a:solidFill>
            <a:srgbClr val="1F2A4D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0" y="201168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017520" y="25146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shlex.split()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83480" y="1828800"/>
            <a:ext cx="228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A92B"/>
                </a:solidFill>
              </a:rPr>
              <a:t>➜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212080" y="1828800"/>
            <a:ext cx="2057400" cy="1280160"/>
          </a:xfrm>
          <a:prstGeom prst="rect">
            <a:avLst/>
          </a:prstGeom>
          <a:solidFill>
            <a:srgbClr val="F4F6FB"/>
          </a:solidFill>
          <a:ln w="12700">
            <a:solidFill>
              <a:srgbClr val="D6DC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212080" y="1828800"/>
            <a:ext cx="2057400" cy="73152"/>
          </a:xfrm>
          <a:prstGeom prst="rect">
            <a:avLst/>
          </a:prstGeom>
          <a:solidFill>
            <a:srgbClr val="1F2A4D"/>
          </a:solidFill>
          <a:ln/>
        </p:spPr>
      </p:sp>
      <p:sp>
        <p:nvSpPr>
          <p:cNvPr id="17" name="Text 15"/>
          <p:cNvSpPr/>
          <p:nvPr/>
        </p:nvSpPr>
        <p:spPr>
          <a:xfrm>
            <a:off x="5212080" y="201168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303520" y="25146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built-in?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269480" y="1828800"/>
            <a:ext cx="228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A92B"/>
                </a:solidFill>
              </a:rPr>
              <a:t>➜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498080" y="1828800"/>
            <a:ext cx="2057400" cy="1280160"/>
          </a:xfrm>
          <a:prstGeom prst="rect">
            <a:avLst/>
          </a:prstGeom>
          <a:solidFill>
            <a:srgbClr val="F4F6FB"/>
          </a:solidFill>
          <a:ln w="12700">
            <a:solidFill>
              <a:srgbClr val="D6DC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0" y="1828800"/>
            <a:ext cx="2057400" cy="73152"/>
          </a:xfrm>
          <a:prstGeom prst="rect">
            <a:avLst/>
          </a:prstGeom>
          <a:solidFill>
            <a:srgbClr val="1F2A4D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0" y="201168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589520" y="25146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method | subprocess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555480" y="1828800"/>
            <a:ext cx="228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A92B"/>
                </a:solidFill>
              </a:rPr>
              <a:t>➜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9784080" y="1828800"/>
            <a:ext cx="2057400" cy="1280160"/>
          </a:xfrm>
          <a:prstGeom prst="rect">
            <a:avLst/>
          </a:prstGeom>
          <a:solidFill>
            <a:srgbClr val="F4F6FB"/>
          </a:solidFill>
          <a:ln w="12700">
            <a:solidFill>
              <a:srgbClr val="D6DCE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784080" y="1828800"/>
            <a:ext cx="2057400" cy="73152"/>
          </a:xfrm>
          <a:prstGeom prst="rect">
            <a:avLst/>
          </a:prstGeom>
          <a:solidFill>
            <a:srgbClr val="1F2A4D"/>
          </a:solidFill>
          <a:ln/>
        </p:spPr>
      </p:sp>
      <p:sp>
        <p:nvSpPr>
          <p:cNvPr id="27" name="Text 25"/>
          <p:cNvSpPr/>
          <p:nvPr/>
        </p:nvSpPr>
        <p:spPr>
          <a:xfrm>
            <a:off x="9784080" y="201168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875520" y="25146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 prompt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31520" y="34747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shell is one Python class running this loop until the user types exit.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31520" y="4023360"/>
            <a:ext cx="10698480" cy="1554480"/>
          </a:xfrm>
          <a:prstGeom prst="rect">
            <a:avLst/>
          </a:prstGeom>
          <a:solidFill>
            <a:srgbClr val="E8ECF5"/>
          </a:solidFill>
          <a:ln w="12700">
            <a:solidFill>
              <a:srgbClr val="D6DCE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1520" y="4023360"/>
            <a:ext cx="73152" cy="1554480"/>
          </a:xfrm>
          <a:prstGeom prst="rect">
            <a:avLst/>
          </a:prstGeom>
          <a:solidFill>
            <a:srgbClr val="E0A92B"/>
          </a:solidFill>
          <a:ln/>
        </p:spPr>
      </p:sp>
      <p:sp>
        <p:nvSpPr>
          <p:cNvPr id="32" name="Text 30"/>
          <p:cNvSpPr/>
          <p:nvPr/>
        </p:nvSpPr>
        <p:spPr>
          <a:xfrm>
            <a:off x="960120" y="41605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0A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60120" y="452628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Built-ins must run inside the shell process. A child process cannot change the parent's working directory — that is exactly why cd, export, and exit have to be handled by the shell itself.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457200" y="6565392"/>
            <a:ext cx="320040" cy="36576"/>
          </a:xfrm>
          <a:prstGeom prst="rect">
            <a:avLst/>
          </a:prstGeom>
          <a:solidFill>
            <a:srgbClr val="E0A92B"/>
          </a:solidFill>
          <a:ln/>
        </p:spPr>
      </p:sp>
      <p:sp>
        <p:nvSpPr>
          <p:cNvPr id="35" name="Text 33"/>
          <p:cNvSpPr/>
          <p:nvPr/>
        </p:nvSpPr>
        <p:spPr>
          <a:xfrm>
            <a:off x="8686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Shell in Python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64592" cy="457200"/>
          </a:xfrm>
          <a:prstGeom prst="rect">
            <a:avLst/>
          </a:prstGeom>
          <a:solidFill>
            <a:srgbClr val="E0A92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Commands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9601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commands handled inside the shell process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1737360" cy="502920"/>
          </a:xfrm>
          <a:prstGeom prst="rect">
            <a:avLst/>
          </a:prstGeom>
          <a:solidFill>
            <a:srgbClr val="1F2A4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5087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[dir]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560320" y="1508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directory (supports cd -)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148840"/>
            <a:ext cx="1737360" cy="502920"/>
          </a:xfrm>
          <a:prstGeom prst="rect">
            <a:avLst/>
          </a:prstGeom>
          <a:solidFill>
            <a:srgbClr val="1F2A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1488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pwd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560320" y="2148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working directory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788920"/>
            <a:ext cx="1737360" cy="502920"/>
          </a:xfrm>
          <a:prstGeom prst="rect">
            <a:avLst/>
          </a:prstGeom>
          <a:solidFill>
            <a:srgbClr val="1F2A4D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7889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[-n] ...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560320" y="27889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arguments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429000"/>
            <a:ext cx="1737360" cy="502920"/>
          </a:xfrm>
          <a:prstGeom prst="rect">
            <a:avLst/>
          </a:prstGeom>
          <a:solidFill>
            <a:srgbClr val="1F2A4D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34290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exit [code]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560320" y="34290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the shell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4069080"/>
            <a:ext cx="1737360" cy="502920"/>
          </a:xfrm>
          <a:prstGeom prst="rect">
            <a:avLst/>
          </a:prstGeom>
          <a:solidFill>
            <a:srgbClr val="1F2A4D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0690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560320" y="40690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built-in commands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09360" y="1508760"/>
            <a:ext cx="1737360" cy="502920"/>
          </a:xfrm>
          <a:prstGeom prst="rect">
            <a:avLst/>
          </a:prstGeom>
          <a:solidFill>
            <a:srgbClr val="1F2A4D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15087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138160" y="1508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the screen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309360" y="2148840"/>
            <a:ext cx="1737360" cy="502920"/>
          </a:xfrm>
          <a:prstGeom prst="rect">
            <a:avLst/>
          </a:prstGeom>
          <a:solidFill>
            <a:srgbClr val="1F2A4D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0" y="21488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138160" y="2148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environment variables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309360" y="2788920"/>
            <a:ext cx="1737360" cy="502920"/>
          </a:xfrm>
          <a:prstGeom prst="rect">
            <a:avLst/>
          </a:prstGeom>
          <a:solidFill>
            <a:srgbClr val="1F2A4D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0" y="27889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VAR=V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138160" y="27889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environment variable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309360" y="3429000"/>
            <a:ext cx="1737360" cy="502920"/>
          </a:xfrm>
          <a:prstGeom prst="rect">
            <a:avLst/>
          </a:prstGeom>
          <a:solidFill>
            <a:srgbClr val="1F2A4D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0" y="34290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unset VAR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138160" y="34290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environment variable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309360" y="4069080"/>
            <a:ext cx="1737360" cy="502920"/>
          </a:xfrm>
          <a:prstGeom prst="rect">
            <a:avLst/>
          </a:prstGeom>
          <a:solidFill>
            <a:srgbClr val="1F2A4D"/>
          </a:solidFill>
          <a:ln/>
        </p:spPr>
      </p:sp>
      <p:sp>
        <p:nvSpPr>
          <p:cNvPr id="33" name="Text 31"/>
          <p:cNvSpPr/>
          <p:nvPr/>
        </p:nvSpPr>
        <p:spPr>
          <a:xfrm>
            <a:off x="6400800" y="40690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history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138160" y="40690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typed commands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731520" y="5029200"/>
            <a:ext cx="10698480" cy="640080"/>
          </a:xfrm>
          <a:prstGeom prst="rect">
            <a:avLst/>
          </a:prstGeom>
          <a:solidFill>
            <a:srgbClr val="F4F6FB"/>
          </a:solidFill>
          <a:ln w="12700">
            <a:solidFill>
              <a:srgbClr val="D6DCE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5029200"/>
            <a:ext cx="73152" cy="640080"/>
          </a:xfrm>
          <a:prstGeom prst="rect">
            <a:avLst/>
          </a:prstGeom>
          <a:solidFill>
            <a:srgbClr val="E0A92B"/>
          </a:solidFill>
          <a:ln/>
        </p:spPr>
      </p:sp>
      <p:sp>
        <p:nvSpPr>
          <p:cNvPr id="37" name="Text 35"/>
          <p:cNvSpPr/>
          <p:nvPr/>
        </p:nvSpPr>
        <p:spPr>
          <a:xfrm>
            <a:off x="960120" y="50292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(ls, cat, grep, python3, mkdir, …) runs as an external program via subprocess.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57200" y="6565392"/>
            <a:ext cx="320040" cy="36576"/>
          </a:xfrm>
          <a:prstGeom prst="rect">
            <a:avLst/>
          </a:prstGeom>
          <a:solidFill>
            <a:srgbClr val="E0A92B"/>
          </a:solidFill>
          <a:ln/>
        </p:spPr>
      </p:sp>
      <p:sp>
        <p:nvSpPr>
          <p:cNvPr id="39" name="Text 37"/>
          <p:cNvSpPr/>
          <p:nvPr/>
        </p:nvSpPr>
        <p:spPr>
          <a:xfrm>
            <a:off x="8686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Shell in Python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64592" cy="457200"/>
          </a:xfrm>
          <a:prstGeom prst="rect">
            <a:avLst/>
          </a:prstGeom>
          <a:solidFill>
            <a:srgbClr val="E0A92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External Commands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9601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subprocess.run() — no shell in between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deliberately avoided two shortcuts: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eval() — runs arbitrary Python code. Security hole.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os.system() — just wraps /bin/sh. Defeats the purpose.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32461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subprocess.run() executes the program directly via fork + exec — the same way Bash does.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035040" y="1508760"/>
            <a:ext cx="5486400" cy="4206240"/>
          </a:xfrm>
          <a:prstGeom prst="rect">
            <a:avLst/>
          </a:prstGeom>
          <a:solidFill>
            <a:srgbClr val="1F2A4D"/>
          </a:solidFill>
          <a:ln/>
        </p:spPr>
      </p:sp>
      <p:sp>
        <p:nvSpPr>
          <p:cNvPr id="9" name="Shape 7"/>
          <p:cNvSpPr/>
          <p:nvPr/>
        </p:nvSpPr>
        <p:spPr>
          <a:xfrm>
            <a:off x="6035040" y="1508760"/>
            <a:ext cx="5486400" cy="365760"/>
          </a:xfrm>
          <a:prstGeom prst="rect">
            <a:avLst/>
          </a:prstGeom>
          <a:solidFill>
            <a:srgbClr val="2B3A66"/>
          </a:solidFill>
          <a:ln/>
        </p:spPr>
      </p:sp>
      <p:sp>
        <p:nvSpPr>
          <p:cNvPr id="10" name="Text 8"/>
          <p:cNvSpPr/>
          <p:nvPr/>
        </p:nvSpPr>
        <p:spPr>
          <a:xfrm>
            <a:off x="6172200" y="15087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run_external() — minishell.py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217920" y="1965960"/>
            <a:ext cx="52120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run_external(self, cmd, args):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result = subprocess.run(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[cmd] + args,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preexec_fn=...,   # see next slide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self.last_exit_code = result.returncode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 FileNotFoundError: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print(f"minishell: {cmd}: command not found")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self.last_exit_code = 127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 PermissionError: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print(f"minishell: {cmd}: permission denied")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self.last_exit_code = 126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6565392"/>
            <a:ext cx="320040" cy="36576"/>
          </a:xfrm>
          <a:prstGeom prst="rect">
            <a:avLst/>
          </a:prstGeom>
          <a:solidFill>
            <a:srgbClr val="E0A92B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Shell in Python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64592" cy="457200"/>
          </a:xfrm>
          <a:prstGeom prst="rect">
            <a:avLst/>
          </a:prstGeom>
          <a:solidFill>
            <a:srgbClr val="E0A92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Handling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9601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Ctrl-C must cancel the line, not kill the shell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10698480" cy="1417320"/>
          </a:xfrm>
          <a:prstGeom prst="rect">
            <a:avLst/>
          </a:prstGeom>
          <a:solidFill>
            <a:srgbClr val="F4F6FB"/>
          </a:solidFill>
          <a:ln w="12700">
            <a:solidFill>
              <a:srgbClr val="D6DC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1417320"/>
          </a:xfrm>
          <a:prstGeom prst="rect">
            <a:avLst/>
          </a:prstGeom>
          <a:solidFill>
            <a:srgbClr val="E0A92B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73736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Ctrl-C at the prompt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219456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the current input line. Show a fresh prompt. The shell stays alive.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0" y="2011680"/>
            <a:ext cx="3931920" cy="594360"/>
          </a:xfrm>
          <a:prstGeom prst="rect">
            <a:avLst/>
          </a:prstGeom>
          <a:solidFill>
            <a:srgbClr val="1F2A4D"/>
          </a:solidFill>
          <a:ln/>
        </p:spPr>
      </p:sp>
      <p:sp>
        <p:nvSpPr>
          <p:cNvPr id="10" name="Text 8"/>
          <p:cNvSpPr/>
          <p:nvPr/>
        </p:nvSpPr>
        <p:spPr>
          <a:xfrm>
            <a:off x="7406640" y="201168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signal.SIG_IGN  +  catch KeyboardInterrupt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3200400"/>
            <a:ext cx="10698480" cy="1417320"/>
          </a:xfrm>
          <a:prstGeom prst="rect">
            <a:avLst/>
          </a:prstGeom>
          <a:solidFill>
            <a:srgbClr val="F4F6FB"/>
          </a:solidFill>
          <a:ln w="12700">
            <a:solidFill>
              <a:srgbClr val="D6DC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3200400"/>
            <a:ext cx="73152" cy="1417320"/>
          </a:xfrm>
          <a:prstGeom prst="rect">
            <a:avLst/>
          </a:prstGeom>
          <a:solidFill>
            <a:srgbClr val="E0A92B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333756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Ctrl-C during a program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005840" y="379476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the running child (e.g. sleep 30). The shell survives and returns to the prompt.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0" y="3611880"/>
            <a:ext cx="3931920" cy="594360"/>
          </a:xfrm>
          <a:prstGeom prst="rect">
            <a:avLst/>
          </a:prstGeom>
          <a:solidFill>
            <a:srgbClr val="1F2A4D"/>
          </a:solidFill>
          <a:ln/>
        </p:spPr>
      </p:sp>
      <p:sp>
        <p:nvSpPr>
          <p:cNvPr id="16" name="Text 14"/>
          <p:cNvSpPr/>
          <p:nvPr/>
        </p:nvSpPr>
        <p:spPr>
          <a:xfrm>
            <a:off x="7406640" y="361188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preexec_fn = SIG_DFL  inside the child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4800600"/>
            <a:ext cx="10698480" cy="1417320"/>
          </a:xfrm>
          <a:prstGeom prst="rect">
            <a:avLst/>
          </a:prstGeom>
          <a:solidFill>
            <a:srgbClr val="F4F6FB"/>
          </a:solidFill>
          <a:ln w="12700">
            <a:solidFill>
              <a:srgbClr val="D6DCE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" y="4800600"/>
            <a:ext cx="73152" cy="1417320"/>
          </a:xfrm>
          <a:prstGeom prst="rect">
            <a:avLst/>
          </a:prstGeom>
          <a:solidFill>
            <a:srgbClr val="E0A92B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493776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Ctrl-D at empty prompt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005840" y="539496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End-of-input — exit cleanly with a goodbye newline.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0" y="5212080"/>
            <a:ext cx="3931920" cy="594360"/>
          </a:xfrm>
          <a:prstGeom prst="rect">
            <a:avLst/>
          </a:prstGeom>
          <a:solidFill>
            <a:srgbClr val="1F2A4D"/>
          </a:solidFill>
          <a:ln/>
        </p:spPr>
      </p:sp>
      <p:sp>
        <p:nvSpPr>
          <p:cNvPr id="22" name="Text 20"/>
          <p:cNvSpPr/>
          <p:nvPr/>
        </p:nvSpPr>
        <p:spPr>
          <a:xfrm>
            <a:off x="7406640" y="521208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catch EOFError from input()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6565392"/>
            <a:ext cx="320040" cy="36576"/>
          </a:xfrm>
          <a:prstGeom prst="rect">
            <a:avLst/>
          </a:prstGeom>
          <a:solidFill>
            <a:srgbClr val="E0A92B"/>
          </a:solidFill>
          <a:ln/>
        </p:spPr>
      </p:sp>
      <p:sp>
        <p:nvSpPr>
          <p:cNvPr id="24" name="Text 22"/>
          <p:cNvSpPr/>
          <p:nvPr/>
        </p:nvSpPr>
        <p:spPr>
          <a:xfrm>
            <a:off x="8686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Shell in Python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64592" cy="457200"/>
          </a:xfrm>
          <a:prstGeom prst="rect">
            <a:avLst/>
          </a:prstGeom>
          <a:solidFill>
            <a:srgbClr val="E0A92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9601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show you in the terminal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6858000" cy="42062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600200"/>
            <a:ext cx="6858000" cy="365760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1709928"/>
            <a:ext cx="146304" cy="146304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8" name="Shape 6"/>
          <p:cNvSpPr/>
          <p:nvPr/>
        </p:nvSpPr>
        <p:spPr>
          <a:xfrm>
            <a:off x="1060704" y="1709928"/>
            <a:ext cx="146304" cy="146304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9" name="Shape 7"/>
          <p:cNvSpPr/>
          <p:nvPr/>
        </p:nvSpPr>
        <p:spPr>
          <a:xfrm>
            <a:off x="1252728" y="1709928"/>
            <a:ext cx="146304" cy="146304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2103120"/>
            <a:ext cx="6492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0C0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python3 minishell.py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 Shell -- type 'help' for commands, 'exit' to quit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5FD7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user@host:~$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pwd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0C0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/home/user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5FD7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user@host:~$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hello world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0C0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hello world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5FD7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user@host:~$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/tmp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5FD7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user@host:/tmp$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-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0C0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/home/user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5FD7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user@host:~$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NAME=demo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5FD7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user@host:~$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xyznotreal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minishell: xyznotreal: command not found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5FD7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user@host:~$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history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95528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proves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2103120"/>
            <a:ext cx="1463040" cy="502920"/>
          </a:xfrm>
          <a:prstGeom prst="rect">
            <a:avLst/>
          </a:prstGeom>
          <a:solidFill>
            <a:srgbClr val="1F2A4D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0" y="21031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pwd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555480" y="2103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works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955280" y="2715768"/>
            <a:ext cx="1463040" cy="502920"/>
          </a:xfrm>
          <a:prstGeom prst="rect">
            <a:avLst/>
          </a:prstGeom>
          <a:solidFill>
            <a:srgbClr val="1F2A4D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0" y="2715768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555480" y="271576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 parsing OK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955280" y="3328416"/>
            <a:ext cx="1463040" cy="502920"/>
          </a:xfrm>
          <a:prstGeom prst="rect">
            <a:avLst/>
          </a:prstGeom>
          <a:solidFill>
            <a:srgbClr val="1F2A4D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0" y="3328416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/ cd -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9555480" y="3328416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+ history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955280" y="3941064"/>
            <a:ext cx="1463040" cy="502920"/>
          </a:xfrm>
          <a:prstGeom prst="rect">
            <a:avLst/>
          </a:prstGeom>
          <a:solidFill>
            <a:srgbClr val="1F2A4D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0" y="3941064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555480" y="394106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 vars persist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955280" y="4553712"/>
            <a:ext cx="1463040" cy="502920"/>
          </a:xfrm>
          <a:prstGeom prst="rect">
            <a:avLst/>
          </a:prstGeom>
          <a:solidFill>
            <a:srgbClr val="1F2A4D"/>
          </a:solidFill>
          <a:ln/>
        </p:spPr>
      </p:sp>
      <p:sp>
        <p:nvSpPr>
          <p:cNvPr id="25" name="Text 23"/>
          <p:cNvSpPr/>
          <p:nvPr/>
        </p:nvSpPr>
        <p:spPr>
          <a:xfrm>
            <a:off x="8046720" y="45537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xyz...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9555480" y="455371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error message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7955280" y="5166360"/>
            <a:ext cx="1463040" cy="502920"/>
          </a:xfrm>
          <a:prstGeom prst="rect">
            <a:avLst/>
          </a:prstGeom>
          <a:solidFill>
            <a:srgbClr val="1F2A4D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0" y="516636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history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9555480" y="516636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input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457200" y="6565392"/>
            <a:ext cx="320040" cy="36576"/>
          </a:xfrm>
          <a:prstGeom prst="rect">
            <a:avLst/>
          </a:prstGeom>
          <a:solidFill>
            <a:srgbClr val="E0A92B"/>
          </a:solidFill>
          <a:ln/>
        </p:spPr>
      </p:sp>
      <p:sp>
        <p:nvSpPr>
          <p:cNvPr id="31" name="Text 29"/>
          <p:cNvSpPr/>
          <p:nvPr/>
        </p:nvSpPr>
        <p:spPr>
          <a:xfrm>
            <a:off x="8686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Shell in Python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64592" cy="457200"/>
          </a:xfrm>
          <a:prstGeom prst="rect">
            <a:avLst/>
          </a:prstGeom>
          <a:solidFill>
            <a:srgbClr val="E0A92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Limitations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9601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Intentionally out of scope for “basic”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chose a smaller, polished shell over a half-finished advanced one.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2103120"/>
            <a:ext cx="3383280" cy="1280160"/>
          </a:xfrm>
          <a:prstGeom prst="rect">
            <a:avLst/>
          </a:prstGeom>
          <a:solidFill>
            <a:srgbClr val="F4F6FB"/>
          </a:solidFill>
          <a:ln w="12700">
            <a:solidFill>
              <a:srgbClr val="D6DC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2103120"/>
            <a:ext cx="3383280" cy="73152"/>
          </a:xfrm>
          <a:prstGeom prst="rect">
            <a:avLst/>
          </a:prstGeom>
          <a:solidFill>
            <a:srgbClr val="1F2A4D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2860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27889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 | grep py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43400" y="2103120"/>
            <a:ext cx="3383280" cy="1280160"/>
          </a:xfrm>
          <a:prstGeom prst="rect">
            <a:avLst/>
          </a:prstGeom>
          <a:solidFill>
            <a:srgbClr val="F4F6FB"/>
          </a:solidFill>
          <a:ln w="12700">
            <a:solidFill>
              <a:srgbClr val="D6DC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43400" y="2103120"/>
            <a:ext cx="3383280" cy="73152"/>
          </a:xfrm>
          <a:prstGeom prst="rect">
            <a:avLst/>
          </a:prstGeom>
          <a:solidFill>
            <a:srgbClr val="1F2A4D"/>
          </a:solidFill>
          <a:ln/>
        </p:spPr>
      </p:sp>
      <p:sp>
        <p:nvSpPr>
          <p:cNvPr id="12" name="Text 10"/>
          <p:cNvSpPr/>
          <p:nvPr/>
        </p:nvSpPr>
        <p:spPr>
          <a:xfrm>
            <a:off x="4526280" y="22860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Redirection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26280" y="27889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output.txt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955280" y="2103120"/>
            <a:ext cx="3383280" cy="1280160"/>
          </a:xfrm>
          <a:prstGeom prst="rect">
            <a:avLst/>
          </a:prstGeom>
          <a:solidFill>
            <a:srgbClr val="F4F6FB"/>
          </a:solidFill>
          <a:ln w="12700">
            <a:solidFill>
              <a:srgbClr val="D6DC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55280" y="2103120"/>
            <a:ext cx="3383280" cy="73152"/>
          </a:xfrm>
          <a:prstGeom prst="rect">
            <a:avLst/>
          </a:prstGeom>
          <a:solidFill>
            <a:srgbClr val="1F2A4D"/>
          </a:solidFill>
          <a:ln/>
        </p:spPr>
      </p:sp>
      <p:sp>
        <p:nvSpPr>
          <p:cNvPr id="16" name="Text 14"/>
          <p:cNvSpPr/>
          <p:nvPr/>
        </p:nvSpPr>
        <p:spPr>
          <a:xfrm>
            <a:off x="8138160" y="22860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expansion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138160" y="27889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$HOME prints literally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31520" y="3611880"/>
            <a:ext cx="3383280" cy="1280160"/>
          </a:xfrm>
          <a:prstGeom prst="rect">
            <a:avLst/>
          </a:prstGeom>
          <a:solidFill>
            <a:srgbClr val="F4F6FB"/>
          </a:solidFill>
          <a:ln w="12700">
            <a:solidFill>
              <a:srgbClr val="D6DC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3611880"/>
            <a:ext cx="3383280" cy="73152"/>
          </a:xfrm>
          <a:prstGeom prst="rect">
            <a:avLst/>
          </a:prstGeom>
          <a:solidFill>
            <a:srgbClr val="1F2A4D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3794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jobs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14400" y="42976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sleep 10 &amp;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343400" y="3611880"/>
            <a:ext cx="3383280" cy="1280160"/>
          </a:xfrm>
          <a:prstGeom prst="rect">
            <a:avLst/>
          </a:prstGeom>
          <a:solidFill>
            <a:srgbClr val="F4F6FB"/>
          </a:solidFill>
          <a:ln w="12700">
            <a:solidFill>
              <a:srgbClr val="D6DCE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43400" y="3611880"/>
            <a:ext cx="3383280" cy="73152"/>
          </a:xfrm>
          <a:prstGeom prst="rect">
            <a:avLst/>
          </a:prstGeom>
          <a:solidFill>
            <a:srgbClr val="1F2A4D"/>
          </a:solidFill>
          <a:ln/>
        </p:spPr>
      </p:sp>
      <p:sp>
        <p:nvSpPr>
          <p:cNvPr id="24" name="Text 22"/>
          <p:cNvSpPr/>
          <p:nvPr/>
        </p:nvSpPr>
        <p:spPr>
          <a:xfrm>
            <a:off x="4526280" y="3794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Chaining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526280" y="42976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cmd1 &amp;&amp; cmd2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955280" y="3611880"/>
            <a:ext cx="3383280" cy="1280160"/>
          </a:xfrm>
          <a:prstGeom prst="rect">
            <a:avLst/>
          </a:prstGeom>
          <a:solidFill>
            <a:srgbClr val="F4F6FB"/>
          </a:solidFill>
          <a:ln w="12700">
            <a:solidFill>
              <a:srgbClr val="D6DCE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55280" y="3611880"/>
            <a:ext cx="3383280" cy="73152"/>
          </a:xfrm>
          <a:prstGeom prst="rect">
            <a:avLst/>
          </a:prstGeom>
          <a:solidFill>
            <a:srgbClr val="1F2A4D"/>
          </a:solidFill>
          <a:ln/>
        </p:spPr>
      </p:sp>
      <p:sp>
        <p:nvSpPr>
          <p:cNvPr id="28" name="Text 26"/>
          <p:cNvSpPr/>
          <p:nvPr/>
        </p:nvSpPr>
        <p:spPr>
          <a:xfrm>
            <a:off x="8138160" y="3794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Globbing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138160" y="42976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*.txt patterns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731520" y="5166360"/>
            <a:ext cx="10698480" cy="640080"/>
          </a:xfrm>
          <a:prstGeom prst="rect">
            <a:avLst/>
          </a:prstGeom>
          <a:solidFill>
            <a:srgbClr val="E8ECF5"/>
          </a:solidFill>
          <a:ln w="12700">
            <a:solidFill>
              <a:srgbClr val="D6DCE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1520" y="5166360"/>
            <a:ext cx="73152" cy="640080"/>
          </a:xfrm>
          <a:prstGeom prst="rect">
            <a:avLst/>
          </a:prstGeom>
          <a:solidFill>
            <a:srgbClr val="E0A92B"/>
          </a:solidFill>
          <a:ln/>
        </p:spPr>
      </p:sp>
      <p:sp>
        <p:nvSpPr>
          <p:cNvPr id="32" name="Text 30"/>
          <p:cNvSpPr/>
          <p:nvPr/>
        </p:nvSpPr>
        <p:spPr>
          <a:xfrm>
            <a:off x="960120" y="516636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A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Why?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of these would push the project from “basic” to “medium” — and the assignment said basic.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57200" y="6565392"/>
            <a:ext cx="320040" cy="36576"/>
          </a:xfrm>
          <a:prstGeom prst="rect">
            <a:avLst/>
          </a:prstGeom>
          <a:solidFill>
            <a:srgbClr val="E0A92B"/>
          </a:solidFill>
          <a:ln/>
        </p:spPr>
      </p:sp>
      <p:sp>
        <p:nvSpPr>
          <p:cNvPr id="34" name="Text 32"/>
          <p:cNvSpPr/>
          <p:nvPr/>
        </p:nvSpPr>
        <p:spPr>
          <a:xfrm>
            <a:off x="8686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Shell in Python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64592" cy="457200"/>
          </a:xfrm>
          <a:prstGeom prst="rect">
            <a:avLst/>
          </a:prstGeom>
          <a:solidFill>
            <a:srgbClr val="E0A92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9601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 that became real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5303520" cy="1828800"/>
          </a:xfrm>
          <a:prstGeom prst="rect">
            <a:avLst/>
          </a:prstGeom>
          <a:solidFill>
            <a:srgbClr val="F4F6FB"/>
          </a:solidFill>
          <a:ln w="12700">
            <a:solidFill>
              <a:srgbClr val="D6DC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8288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0A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2423160" y="19659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+ exec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423160" y="246888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shell actually spawns programs — and why subprocess matters.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1645920"/>
            <a:ext cx="5303520" cy="1828800"/>
          </a:xfrm>
          <a:prstGeom prst="rect">
            <a:avLst/>
          </a:prstGeom>
          <a:solidFill>
            <a:srgbClr val="F4F6FB"/>
          </a:solidFill>
          <a:ln w="12700">
            <a:solidFill>
              <a:srgbClr val="D6DC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18288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0A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8001000" y="19659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vs external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001000" y="246888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cd, export, and exit cannot be external programs.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3749040"/>
            <a:ext cx="5303520" cy="1828800"/>
          </a:xfrm>
          <a:prstGeom prst="rect">
            <a:avLst/>
          </a:prstGeom>
          <a:solidFill>
            <a:srgbClr val="F4F6FB"/>
          </a:solidFill>
          <a:ln w="12700">
            <a:solidFill>
              <a:srgbClr val="D6DC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393192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0A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2423160" y="4069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&amp; SIGINT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423160" y="457200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Ctrl-C is dispatched, and how to scope it to the child.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309360" y="3749040"/>
            <a:ext cx="5303520" cy="1828800"/>
          </a:xfrm>
          <a:prstGeom prst="rect">
            <a:avLst/>
          </a:prstGeom>
          <a:solidFill>
            <a:srgbClr val="F4F6FB"/>
          </a:solidFill>
          <a:ln w="12700">
            <a:solidFill>
              <a:srgbClr val="D6DC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37960" y="393192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0A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8001000" y="4069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codes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001000" y="457200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 1, 126, 127, 130 — what each one means and when to use it.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6565392"/>
            <a:ext cx="320040" cy="36576"/>
          </a:xfrm>
          <a:prstGeom prst="rect">
            <a:avLst/>
          </a:prstGeom>
          <a:solidFill>
            <a:srgbClr val="E0A92B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Shell in Python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2A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0A92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19456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F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4114800"/>
            <a:ext cx="1097280" cy="45720"/>
          </a:xfrm>
          <a:prstGeom prst="rect">
            <a:avLst/>
          </a:prstGeom>
          <a:solidFill>
            <a:srgbClr val="E0A92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343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github.com/ABCC-wq/mini-shell-python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4754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 Shell in Python</dc:title>
  <dc:subject>PptxGenJS Presentation</dc:subject>
  <dc:creator>PptxGenJS</dc:creator>
  <cp:lastModifiedBy>PptxGenJS</cp:lastModifiedBy>
  <cp:revision>1</cp:revision>
  <dcterms:created xsi:type="dcterms:W3CDTF">2026-05-19T21:29:05Z</dcterms:created>
  <dcterms:modified xsi:type="dcterms:W3CDTF">2026-05-19T21:29:05Z</dcterms:modified>
</cp:coreProperties>
</file>